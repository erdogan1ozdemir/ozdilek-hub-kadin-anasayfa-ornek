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do/Desktop/Claude Projects/Özdilek/Hub Page Project/deck/inbound-big-o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7772400" y="-3200400"/>
            <a:ext cx="8686800" cy="8686800"/>
          </a:xfrm>
          <a:prstGeom prst="rect">
            <a:avLst/>
          </a:prstGeom>
        </p:spPr>
      </p:pic>
      <p:pic>
        <p:nvPicPr>
          <p:cNvPr id="3" name="Image 1" descr="/Users/Erdo/Desktop/Claude Projects/Özdilek/Hub Page Project/deck/inbound-big-o-white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-4114800" y="41148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783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>
                    <a:alpha val="9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ÖZDİLEK × INBOUND · SAYFA TİPİ TASARIMI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914400" y="224028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&amp; Özel Gün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Sayfaları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Kurtarma odaklı hata sayfası · Evergreen kampanya sayfası · Görünüm + CRO + UX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715000" y="5303520"/>
            <a:ext cx="731520" cy="45720"/>
          </a:xfrm>
          <a:prstGeom prst="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/Users/Erdo/Desktop/Claude Projects/Özdilek/Hub Page Project/deck/inbound-wordmar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6035040"/>
            <a:ext cx="1371600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0" y="6400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FFFFF">
                    <a:alpha val="7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HAZİRAN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72684" cy="6858000"/>
          </a:xfrm>
          <a:prstGeom prst="rect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50" kern="0" dirty="0">
                <a:solidFill>
                  <a:srgbClr val="FFFFFF">
                    <a:alpha val="8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SUNUM AKIŞI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İKİ YENİ</a:t>
            </a:r>
            <a:endParaRPr lang="en-US" sz="5200" dirty="0"/>
          </a:p>
          <a:p>
            <a:pPr indent="0" marL="0">
              <a:buNone/>
            </a:pPr>
            <a:r>
              <a:rPr lang="en-US" sz="5200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SAYFA TİPİ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 iki sayfa da kadın hub ile aynı tasarım dilinde; içerik sayfa tipine göre. Canlı mockup + marka değerlendirmesi gereken gereklilikler.</a:t>
            </a:r>
            <a:endParaRPr lang="en-US" sz="1250" dirty="0"/>
          </a:p>
        </p:txBody>
      </p:sp>
      <p:pic>
        <p:nvPicPr>
          <p:cNvPr id="6" name="Image 0" descr="/Users/Erdo/Desktop/Claude Projects/Özdilek/Hub Page Project/deck/inbound-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35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1828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Sayfası Nedir?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943600" y="2240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Kurtarma odaklı hata deneyimi, mevcut vs önerilen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4360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0" y="3063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404: Önerilen Yapı + Mockup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943600" y="3474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Kompakt bant, kategori carousel, koleksiyon, ürünler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0" y="3931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42976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Özel Gün Kampanya Sayfası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943600" y="4709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Sevgililer Günü: üstte keşif, altta PLP listeleme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43600" y="5166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43600" y="5532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Gereklilikler &amp; Sonraki Adımlar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943600" y="5943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URL/routing, CMS, SEO, performans, riskler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1371600"/>
            <a:ext cx="10972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0" b="1" spc="-1000" kern="0" dirty="0">
                <a:solidFill>
                  <a:srgbClr val="1A42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50000" dirty="0"/>
          </a:p>
        </p:txBody>
      </p:sp>
      <p:sp>
        <p:nvSpPr>
          <p:cNvPr id="3" name="Shape 1"/>
          <p:cNvSpPr/>
          <p:nvPr/>
        </p:nvSpPr>
        <p:spPr>
          <a:xfrm>
            <a:off x="5715000" y="237744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Sayfası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Kurtarma odaklı hata deneyimi — çıkmaz değil, yeni başlangıç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5000" y="461772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Sayfası Nedir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Neden iyi bir 404?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bir çıkmaz değil, kurtarma noktasıdır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Kırık link, eski kampanya URL'i veya yanlış yazım — kullanıcı kaçınılmaz olarak 404'e düşer. Kötü bir 404 oturumu bitirir; iyi bir 404 kullanıcıyı saniyeler içinde tekrar akışa sokar.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697480" cy="338328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468880"/>
            <a:ext cx="2697480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2F2F">
                    <a:alpha val="7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Dead-end = kayıp oturum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Header'sız, linksiz bir 404 bounce'u artırır; kullanıcı geri tuşuna basıp siteyi terk eder.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697480" cy="338328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468880"/>
            <a:ext cx="2697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>
                    <a:alpha val="7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Kurtarma = dönüşüm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4114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Kategori, marka ve ürün önerileriyle dolu 404, kullanıcıyı doğru sayfaya yönlendirir; oturum sürer.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2697480" cy="338328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468880"/>
            <a:ext cx="2697480" cy="109728"/>
          </a:xfrm>
          <a:prstGeom prst="rect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B52">
                    <a:alpha val="7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3796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SEO: soft-404 riski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114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Sayfa gerçek 404 döndürmeli (200 değil) ve noindex olmalı; aksi halde Google boş sayfaları indeksler.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35440" y="2468880"/>
            <a:ext cx="2697480" cy="338328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2468880"/>
            <a:ext cx="2697480" cy="109728"/>
          </a:xfrm>
          <a:prstGeom prst="rect">
            <a:avLst/>
          </a:prstGeom>
          <a:solidFill>
            <a:srgbClr val="10332F"/>
          </a:solidFill>
          <a:ln w="12700">
            <a:solidFill>
              <a:srgbClr val="1033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32F">
                    <a:alpha val="7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6404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Marka tutarlılığı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64040" y="4114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404 da markanın parçası; aynı header/footer, ton ve tasarım dili korunmalıdır.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Pazar pratiği: Trendyol, Boyner ve Amazon'un 404'leri tam header/menü + kategori ve ürün önerileri sunar — kullanıcıyı asla boş bırakmaz.</a:t>
            </a:r>
            <a:endParaRPr lang="en-US" sz="1050" dirty="0"/>
          </a:p>
        </p:txBody>
      </p:sp>
      <p:pic>
        <p:nvPicPr>
          <p:cNvPr id="26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Sayfası Nedir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Mevcut durum vs öneri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Özdilekteyim'in mevcut 404'ü vs önerimiz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434840"/>
          </a:xfrm>
          <a:prstGeom prst="rect">
            <a:avLst>
              <a:gd name="adj" fmla="val 2062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MEVCUT 404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Canlı sitedeki gerçek durum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2F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Başlık "Not Found Page" — İngilizce ve jenerik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3872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2F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Header, mega menü ve footer yok — kullanıcı sıkışıp kalıyor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10565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2F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Kategori vaadi var ama hiçbir kategori/ürün gösterilmiyor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67258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2F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Öneri, marka linki veya bir sonraki adım yok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523951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2F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Marka tonundan ve tasarım dilinden kopuk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486400" cy="4434840"/>
          </a:xfrm>
          <a:prstGeom prst="rect">
            <a:avLst>
              <a:gd name="adj" fmla="val 2062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ÖNERİLEN 404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487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Kurtarma odaklı, markaya uygun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 header + mega menü + footer (navigasyon geri yüklenir)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35387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Kompakt, Türkçe ve markaya uygun hata mesajı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0" y="410565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 üst kategoriye bölünmüş alt-kategori carousel'leri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467258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Editorial koleksiyonlar + markalar + 2 ürün carousel'i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0" y="52395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Popüler aramalar — her durumda bir sonraki adım</a:t>
            </a:r>
            <a:endParaRPr lang="en-US" sz="1150" dirty="0"/>
          </a:p>
        </p:txBody>
      </p:sp>
      <p:pic>
        <p:nvPicPr>
          <p:cNvPr id="20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Kompakt üst bant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Kompakt hata bandı + header restore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692640" y="868680"/>
            <a:ext cx="932688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868680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ÜST BANT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Üst bant minimal: "404" yalnızca bir kez, küçük bir rozet içinde. Tek satır Türkçe açıklama ve iki net CTA (Ana Sayfa, Kampanyalar). Kocaman 404 grafiği veya sayfa-içi ikinci arama yok — header'daki arama zaten mevcut. Amaç: özür dile, yer kaplama, hemen keşfe yönlendir.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926176"/>
            <a:ext cx="11338560" cy="1188527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8" name="Image 0" descr="/Users/Erdo/Desktop/Claude Projects/Özdilek/Hub Page Project/deck/sections-v2/h404_err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71896"/>
            <a:ext cx="11247120" cy="10970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332720" y="3063336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0" y="3063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3615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 header + mega menü geri yüklenir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0" y="43615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"404" sadece bir kez, küçük rozette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7273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İki CTA: Ana Sayfa + Kampanyalar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47273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Gereksiz sayfa-içi ikinci arama yok</a:t>
            </a:r>
            <a:endParaRPr lang="en-US" sz="11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Kategori bazlı keşif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Kategoriye bölünmüş alt-kategori carousel'leri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1399032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10512"/>
            <a:ext cx="1362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KATEGORİ KEŞFİ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Üst kategorilerin her biri (Kadın, Erkek, Çocuk, Ayakkabı, Spor &amp; Outdoor, Ev &amp; Yaşam, Parfüm &amp; Kozmetik, Kampanyalar) kendi yatay alt-kategori carousel'ine sahip. Görsel alanlar küçük tutuldu ki tek ekranda çok sayıda giriş noktası görünsün.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 üst kategori × alt-kategori carousel'i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910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Küçük görsel + etiket kartları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294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Ok butonları (her ekran boyutunda görünür)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678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CMS-driven: alt kategoriler güncel kalır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286722"/>
            <a:ext cx="6858000" cy="251315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2" name="Image 0" descr="/Users/Erdo/Desktop/Claude Projects/Özdilek/Hub Page Project/deck/sections-v2/h404_catcarou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332442"/>
            <a:ext cx="6766560" cy="242171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607040" y="2423882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0" y="242388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Editorial koleksiyonlar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Anasayfa mizanseni: koleksiyon kartları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1321308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10512"/>
            <a:ext cx="1284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KOLEKSİYONLAR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Anasayfadaki "Sezonun Enerjisini Keşfet" mizanseni 404'e taşındı: Ofis Şıklığı, Davet &amp; Söz, Hafta Sonu, Spor &amp; Active gibi an/koleksiyon kartları. Kategori tekrarından kaçınır (kategoriler zaten üstte) ve kullanıcıya ilham verir; gerçek görsel + okunabilirlik gradyanı ile.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An/koleksiyon temalı 4 kart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910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Gerçek görsel (object-fit, sıfır bozulma)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294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Kategori tekrarı yok — ilham odaklı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678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Anasayfa tasarım diliyle tutarlı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324710"/>
            <a:ext cx="6858000" cy="2437181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2" name="Image 0" descr="/Users/Erdo/Desktop/Claude Projects/Özdilek/Hub Page Project/deck/sections-v2/h404_di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370430"/>
            <a:ext cx="6766560" cy="234574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607040" y="2461870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0" y="246187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Marka + ürün vitrini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Markalar ve iki ürün carousel'i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1243584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10512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MARKA + ÜRÜN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Alt bölümde Popüler Markalar carousel'i ve iki ürün carousel'i: En Çok Satanlar ve En Yeni Ürünler. Kullanıcı aradığını bulamasa bile güçlü ürün önerileriyle alışverişe devam edebilir. Tümü sağa kaydırmalı ve ok butonlu; en altta popüler aramalar her zaman bir sonraki adımı sunar.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Popüler markalar carousel'i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910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Çok Satanlar + En Yeni Ürünler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294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Ok butonu + kaydırma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678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Footer üstü: popüler aramalar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374568"/>
            <a:ext cx="6858000" cy="2337463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2" name="Image 0" descr="/Users/Erdo/Desktop/Claude Projects/Özdilek/Hub Page Project/deck/sections-v2/h404_bestsel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420288"/>
            <a:ext cx="6766560" cy="224602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607040" y="2511728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0" y="2511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 sayfa görünüm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404: kullanıcı asla boşa düşmez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Üstte kompakt özür, hemen ardından zengin navigasyon: kategori carousel'leri, koleksiyonlar, markalar ve ürünler. Tek bir dikey akışta kullanıcı için onlarca yeni giriş noktası.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 header/footer ile tutarlı çerçeve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316382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 kategori carousel'i + koleksiyon kartları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58444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Markalar + 2 ürün carousel'i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Kompakt üst, zengin alt — dengeli boy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42569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Tamamı mobil uyumlu ve kaydırmalı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250105" y="457200"/>
            <a:ext cx="1799470" cy="612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1" name="Image 0" descr="/Users/Erdo/Desktop/Claude Projects/Özdilek/Hub Page Project/deck/sections-v2/h404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825" y="502920"/>
            <a:ext cx="1708030" cy="6035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295825" y="502920"/>
            <a:ext cx="1708030" cy="292608"/>
          </a:xfrm>
          <a:prstGeom prst="rect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95825" y="502920"/>
            <a:ext cx="1708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TAM SAYFA</a:t>
            </a:r>
            <a:endParaRPr lang="en-US" sz="900" dirty="0"/>
          </a:p>
        </p:txBody>
      </p:sp>
      <p:pic>
        <p:nvPicPr>
          <p:cNvPr id="14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1371600"/>
            <a:ext cx="10972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0" b="1" spc="-1000" kern="0" dirty="0">
                <a:solidFill>
                  <a:srgbClr val="1A42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50000" dirty="0"/>
          </a:p>
        </p:txBody>
      </p:sp>
      <p:sp>
        <p:nvSpPr>
          <p:cNvPr id="3" name="Shape 1"/>
          <p:cNvSpPr/>
          <p:nvPr/>
        </p:nvSpPr>
        <p:spPr>
          <a:xfrm>
            <a:off x="5715000" y="237744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Özel Gün Kampanya Sayfası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Sevgililer Günü örneği — üstte keşif, altta listeleme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5000" y="461772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Sayfası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İki katmanlı yapı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Üstte keşif, altta listeleme — tek sayfada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Özel gün kampanya sayfası iki katmanlıdır. Üst katman ilham ve keşif; alt katman gerçek bir PLP listeleme. Kullanıcı ister yukarıdan ilhamla, ister aşağıdan filtreyle ilerler.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2971800"/>
          </a:xfrm>
          <a:prstGeom prst="rect">
            <a:avLst>
              <a:gd name="adj" fmla="val 3077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32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ÜST · KEŞİF KATMANI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F3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Hero slider (3-4 temalı banner)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43814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F3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Persona: "Kime hediye?" (Kadına / Erkeğe / Eşe)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85876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F3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Hediye kategorileri sliderı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27939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F3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Özdilekteyim'in özel önerileri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70001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F3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Bütçe segmentleri + öne çıkan markalar + popüler ürünler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331720"/>
            <a:ext cx="5486400" cy="2971800"/>
          </a:xfrm>
          <a:prstGeom prst="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532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ALT · LİSTELEME (PLP)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301752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 sticky filtre (canlı sitedeki facet'ler)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343814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Sevgililer Günü filtresi ön-seçili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85876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Sıralama + aktif filtre çipleri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427939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sütun ürün grid + sayfalama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470001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Mobilde off-canvas filtre çekmecesi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532120"/>
            <a:ext cx="11292840" cy="777240"/>
          </a:xfrm>
          <a:prstGeom prst="rect">
            <a:avLst>
              <a:gd name="adj" fmla="val 11765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5321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EVERGREEN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URL kalıcıdır (/sevgililer-gunu), yıl damgası yok. Sezon dışında 404 vermez — CMS tarih kuralıyla yedek içerik gösterir; biriken SEO değeri korunur.</a:t>
            </a:r>
            <a:endParaRPr lang="en-US" sz="1150" dirty="0"/>
          </a:p>
        </p:txBody>
      </p:sp>
      <p:pic>
        <p:nvPicPr>
          <p:cNvPr id="21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Hero slider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Özel günün duygusunu kuran hero slider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1165860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10512"/>
            <a:ext cx="11292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HERO SLIDER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Tek banner yerine 3-4 temalı slide: hediye setleri, indirim, son gün vurgusu. Otomatik döner; ok ve nokta navigasyonu var. Kampanyanın atmosferini ilk ekranda kurar ve net bir CTA ile yönlendirir.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3-4 temalı banner, otomatik geçiş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910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Ok + nokta navigasyonu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294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Özel güne özel görsel dil (kalp/hediye)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678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Net birincil CTA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272477"/>
            <a:ext cx="6858000" cy="2541647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2" name="Image 0" descr="/Users/Erdo/Desktop/Claude Projects/Özdilek/Hub Page Project/deck/sections-v2/camp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318197"/>
            <a:ext cx="6766560" cy="245020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607040" y="2409637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0" y="2409637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 — Kime hediye?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Persona: "Kime hediye alıyorsunuz?"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692640" y="868680"/>
            <a:ext cx="854964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868680"/>
            <a:ext cx="8183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Hediye kararını kolaylaştıran persona bloğu: Kadına, Erkeğe, Eşe. Her kart ilgili koleksiyona yönlendirir. Hediye alışverişinin en büyük sürtünmesi olan "ne alacağım?" sorusunu en başta yanıtlar.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06952" y="2468880"/>
            <a:ext cx="8547617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8" name="Image 0" descr="/Users/Erdo/Desktop/Claude Projects/Özdilek/Hub Page Project/deck/sections-v2/camp_perso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672" y="2514600"/>
            <a:ext cx="8456177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937248" y="2606040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37248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8188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persona: Kadına / Erkeğe / Eşe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0" y="48188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 biri küratörlü koleksiyona gider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51846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Karar sürtünmesini en başta azaltır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51846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Özel güne göre uyarlanabilir (Anneler/Babalar Günü)</a:t>
            </a:r>
            <a:endParaRPr lang="en-US" sz="11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Hediye kategorileri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Sağa kaydırmalı hediye kategorileri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692640" y="868680"/>
            <a:ext cx="1787652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868680"/>
            <a:ext cx="17510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HEDİYE KATEGORİLERİ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Sevgiliye hediye kategorileri tek sıra, sağa kaydırmalı slider olarak: parfüm, takı, saat, çikolata, iç giyim. Küçük kartlar ve ok butonlarıyla hızlı, görsel bir hediye keşfi sağlar.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6029" y="2468880"/>
            <a:ext cx="10669462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8" name="Image 0" descr="/Users/Erdo/Desktop/Claude Projects/Özdilek/Hub Page Project/deck/sections-v2/camp_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49" y="2514600"/>
            <a:ext cx="10578022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998171" y="2606040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98171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8188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Tek sıra, sağa kaydırmalı slider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0" y="48188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Parfüm · Takı · Saat · Çikolata · İç Giyim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51846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Küçük kart + ok butonu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51846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Hızlı görsel keşif</a:t>
            </a:r>
            <a:endParaRPr lang="en-US" sz="11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Özel öneriler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Özdilekteyim'in özel hediye önerileri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1321308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10512"/>
            <a:ext cx="1284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ÖZEL ÖNERİLER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"Sevgililer Gününe Özel Özdilekteyim'in Önerileri" — editör seçkisi ürün carousel'i. Popüler ürünlerden ayrı, küratörlü bir öneri katmanı; özel güne özel hediye fikirleri sunarak kararsız kullanıcıyı yönlendirir.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Küratörlü editör seçkisi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910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Popüler ürünlerden ayrı katman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294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Özel güne özgü hediye fikirleri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678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Sağa kaydırmalı + ok butonlu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374568"/>
            <a:ext cx="6858000" cy="2337463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2" name="Image 0" descr="/Users/Erdo/Desktop/Claude Projects/Özdilek/Hub Page Project/deck/sections-v2/camp_r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420288"/>
            <a:ext cx="6766560" cy="224602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607040" y="2511728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0" y="2511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Bütçe + markalar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Bütçe segmentleri ve öne çıkan markalar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"Bütçene Göre Hediye Seç" çipleri kullanıcıyı fiyat segmentine göre yönlendirir (ör. 0-500₺, 500-1000₺, 1000₺+). Öne çıkan markalar carousel'i ise hediye için güvenilir marka çapaları sunar.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243584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31720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BÜTÇEYE GÖRE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700753"/>
            <a:ext cx="11338560" cy="1401631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8" name="Image 0" descr="/Users/Erdo/Desktop/Claude Projects/Özdilek/Hub Page Project/deck/sections-v2/camp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6473"/>
            <a:ext cx="11247120" cy="13101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312695"/>
            <a:ext cx="1709928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312695"/>
            <a:ext cx="1673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ÖNE ÇIKAN MARKALAR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04456" y="4651023"/>
            <a:ext cx="8552609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2" name="Image 1" descr="/Users/Erdo/Desktop/Claude Projects/Özdilek/Hub Page Project/deck/sections-v2/camp_bra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176" y="4696743"/>
            <a:ext cx="8461169" cy="1371600"/>
          </a:xfrm>
          <a:prstGeom prst="rect">
            <a:avLst/>
          </a:prstGeom>
        </p:spPr>
      </p:pic>
      <p:pic>
        <p:nvPicPr>
          <p:cNvPr id="13" name="Image 2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Popüler ürünler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Sevgililer Gününde popüler ürünler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1476756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10512"/>
            <a:ext cx="14401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POPÜLER ÜRÜNLER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Popüler ürünler carousel'i sosyal kanıt ve trend ürünleri öne çıkarır. Kullanıcı kararsızsa "herkesin tercih ettiği" ürünler güçlü bir yönlendirme sağlar; keşif katmanını ürünle sonlandırır.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Sosyal kanıt + trend ürünler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910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Kararsız kullanıcı için güçlü çapa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294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Sağa kaydırmalı + ok butonlu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678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Keşif katmanını PLP'ye bağlar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374568"/>
            <a:ext cx="6858000" cy="2337463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2" name="Image 0" descr="/Users/Erdo/Desktop/Claude Projects/Özdilek/Hub Page Project/deck/sections-v2/camp_pop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420288"/>
            <a:ext cx="6766560" cy="224602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607040" y="2511728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0" y="2511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PLP listeleme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Sticky filtreli PLP listeleme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1243584" cy="292608"/>
          </a:xfrm>
          <a:prstGeom prst="rect">
            <a:avLst>
              <a:gd name="adj" fmla="val 50000"/>
            </a:avLst>
          </a:prstGeom>
          <a:solidFill>
            <a:srgbClr val="FFE3D8"/>
          </a:solidFill>
          <a:ln w="12700">
            <a:solidFill>
              <a:srgbClr val="F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10512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5F3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PLP + FİLTRE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Keşif katmanının altında gerçek bir listeleme: sol tarafta sayfayla birlikte kayan (sticky) filtre — Kampanyalar (Sevgililer Günü ön-seçili), Cinsiyet, Ürün Çeşidi, Marka, Fiyat, Renk, Beden. Üstte sıralama ve aktif filtre çipleri, sağda 4 sütun ürün grid ve sayfalama.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 sticky filtre (canlı facet'ler)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910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Sevgililer Günü filtresi ön-seçili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294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Aktif çipler + "Tümünü Temizle"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678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Mobilde off-canvas çekmece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1356023"/>
            <a:ext cx="6858000" cy="437455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2" name="Image 0" descr="/Users/Erdo/Desktop/Claude Projects/Özdilek/Hub Page Project/deck/sections-v2/camp_p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401743"/>
            <a:ext cx="6766560" cy="428311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607040" y="1493183"/>
            <a:ext cx="1280160" cy="274320"/>
          </a:xfrm>
          <a:prstGeom prst="rect">
            <a:avLst>
              <a:gd name="adj" fmla="val 1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0" y="149318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900" dirty="0"/>
          </a:p>
        </p:txBody>
      </p:sp>
      <p:pic>
        <p:nvPicPr>
          <p:cNvPr id="15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· 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 sayfa görünüm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Keşiften satın almaya tek akış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Üstte ilham ve hediye keşfi, altta tam katalog listeleme. Kullanıcı duygusal girişten (hero, persona) rasyonel filtrelemeye (PLP) kesintisiz iner.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Hero + persona + hediye + öneriler (keşif)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316382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Bütçe + marka + popüler ürünler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58444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Sticky filtreli PLP listeleme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Evergreen URL — her yıl yeniden kullanılır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42569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Diğer özel günlere şablon olarak çoğaltılır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286947" y="457200"/>
            <a:ext cx="1725787" cy="612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10332F">
                <a:alpha val="12000"/>
              </a:srgbClr>
            </a:outerShdw>
          </a:effectLst>
        </p:spPr>
      </p:sp>
      <p:pic>
        <p:nvPicPr>
          <p:cNvPr id="11" name="Image 0" descr="/Users/Erdo/Desktop/Claude Projects/Özdilek/Hub Page Project/deck/sections-v2/camp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2667" y="502920"/>
            <a:ext cx="1634347" cy="6035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332667" y="502920"/>
            <a:ext cx="1634347" cy="292608"/>
          </a:xfrm>
          <a:prstGeom prst="rect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32667" y="502920"/>
            <a:ext cx="16343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TAM SAYFA</a:t>
            </a:r>
            <a:endParaRPr lang="en-US" sz="900" dirty="0"/>
          </a:p>
        </p:txBody>
      </p:sp>
      <p:pic>
        <p:nvPicPr>
          <p:cNvPr id="14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1371600"/>
            <a:ext cx="10972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0" b="1" spc="-1000" kern="0" dirty="0">
                <a:solidFill>
                  <a:srgbClr val="1A42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50000" dirty="0"/>
          </a:p>
        </p:txBody>
      </p:sp>
      <p:sp>
        <p:nvSpPr>
          <p:cNvPr id="3" name="Shape 1"/>
          <p:cNvSpPr/>
          <p:nvPr/>
        </p:nvSpPr>
        <p:spPr>
          <a:xfrm>
            <a:off x="5715000" y="237744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Gereklilikler &amp; Sonraki Adımlar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URL/routing · CMS · SEO · performans · riskler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5000" y="461772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Gereklilikler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404 sayfası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404 için marka &amp; IT gereklilikleri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404 görsel olarak markaya uygun olduğu kadar teknik olarak da doğru kurgulanmalıdır. Aksi halde SEO'da soft-404 ve indeksleme sorunları doğar.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253288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5328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Gerçek HTTP 404 status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9169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Sunucu soft-200 değil, gerçek 404 döndürmeli — yanlış yazılmış/silinmiş URL'ler için doğru sinyal.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253288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76288" y="25328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noindex (nofollow değil)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9169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Sayfa noindex olmalı; böylece Google 404'leri indekslemez ama içindeki linkleri takip eder.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85876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3858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Mümkünse 301 yönlendirme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2428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Kalıcı silinen ürün/kategori URL'leri en yakın canlı sayfaya 301 ile yönlendirilmeli (404 yerine).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385876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76288" y="3858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CMS/feed-driven içerik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42428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Kategori, marka ve ürün carousel'leri CMS/feed'den beslenmeli — içerik kendiliğinden güncel kalsın.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518464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5568" y="51846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GA4 404 izleme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5800" y="5568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404 görüntüleme event'i ve geldiği kırık URL (referrer) izlenmeli; en sık kırık linkler raporlanmalı.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98348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82512" y="518464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76288" y="51846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Paylaşılan header/footer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46520" y="5568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Header/footer ortak bileşenlerden gelmeli — bakım tek noktadan, tutarlılık garanti.</a:t>
            </a:r>
            <a:endParaRPr lang="en-US" sz="1000" dirty="0"/>
          </a:p>
        </p:txBody>
      </p:sp>
      <p:pic>
        <p:nvPicPr>
          <p:cNvPr id="35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Gereklilikler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Özel gün kampanya sayfası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Kampanya sayfası gereklilikleri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Evergreen kampanya sayfası, yıllar içinde biriken SEO değerini koruyacak şekilde kalıcı kurgulanmalı; sezon dışı davranışı planlanmalıdır.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2532888"/>
            <a:ext cx="365760" cy="3657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5328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Kalıcı, yıl-damgasız URL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9169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/sevgililer-gunu gibi her yıl aynı URL. Yıl içeren URL'ler SEO değerini sıfırlar.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2532888"/>
            <a:ext cx="365760" cy="3657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76288" y="25328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Sezon dışı: asla 404 değil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9169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Sezon dışında CMS tarih kuralıyla evergreen/yedek içerik gösterilmeli; sayfa 404 vermemeli.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858768"/>
            <a:ext cx="365760" cy="3657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858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CMS'den yönetilen slotlar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2428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Hero, persona, hediye, öneriler slotları pazarlamanın CMS'den güncelleyebileceği bileşenler olmalı.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3858768"/>
            <a:ext cx="365760" cy="3657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3858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Filtre ↔ katalog senkron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42428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PLP facet'leri canlı katalogla senkron; Sevgililer Günü filtresi ön-seçili gelmeli.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5184648"/>
            <a:ext cx="365760" cy="3657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51846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Filtre URL'leri canonical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5800" y="5568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Filtre kombinasyon URL'leri temel sayfaya canonical olmalı — index bloat'u önlenir.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983480"/>
            <a:ext cx="55321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82512" y="5184648"/>
            <a:ext cx="365760" cy="3657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51846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Şema + tarih + OG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46520" y="5568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ItemList/BreadcrumbList şeması, kampanya başlangıç-bitiş tarihleri ve OG görseli tanımlı olmalı.</a:t>
            </a:r>
            <a:endParaRPr lang="en-US" sz="1000" dirty="0"/>
          </a:p>
        </p:txBody>
      </p:sp>
      <p:pic>
        <p:nvPicPr>
          <p:cNvPr id="35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Gereklilikler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Riskler &amp; önlemler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Olası riskler ve önlemler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965960"/>
            <a:ext cx="365760" cy="36576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Sezon dışı 404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50008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Kampanya URL'i sezon dışında 404 verirse biriken backlink/SEO değeri kaybolur. CMS tarih kuralıyla evergreen yedek içerik şart.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53212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65960"/>
            <a:ext cx="365760" cy="36576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Soft-404 (yanlış status)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350008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404 sayfası 200 döndürürse Google boş/önerili sayfaları indeksler. Gerçek 404 status + noindex döndürülmeli.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553212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429000"/>
            <a:ext cx="365760" cy="36576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Keşif ↔ PLP çakışması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813048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Üst keşif ve alt PLP aynı ürünleri farklı sırada gösterirse kafa karıştırır. Üst = küratörlü, alt = tam katalog konumlanmalı.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53212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429000"/>
            <a:ext cx="365760" cy="36576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Carousel yorgunluğu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813048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404 ve kampanyada çok sayıda yatay carousel var; her birinin farklı amacı olmalı, aralarında farklı bileşenler yer almalı.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553212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892040"/>
            <a:ext cx="365760" cy="36576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Mobil performans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5276088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Görsel-yoğun sayfalar; WebP/AVIF, lazy load, sadece görünür kart render'ı ve hero preload kritik. CWV haftalık izlenmeli.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709160"/>
            <a:ext cx="553212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10332F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4892040"/>
            <a:ext cx="365760" cy="36576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Boş içerik durumu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Ürün/marka carousel'i boşsa CMS kuralıyla gizlenmeli; "yakında" placeholder marka algısını düşürür.</a:t>
            </a:r>
            <a:endParaRPr lang="en-US" sz="1000" dirty="0"/>
          </a:p>
        </p:txBody>
      </p:sp>
      <p:pic>
        <p:nvPicPr>
          <p:cNvPr id="34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7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do/Desktop/Claude Projects/Özdilek/Hub Page Project/deck/inbound-big-o-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3200400" y="-1828800"/>
            <a:ext cx="8686800" cy="8686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1828800"/>
            <a:ext cx="731520" cy="45720"/>
          </a:xfrm>
          <a:prstGeom prst="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03120"/>
            <a:ext cx="11247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spc="-3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Teşekkürler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Sorularınız ve geri bildirimleriniz için hazırız.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Sonraki adım: tasarım onayı + 404 ve kampanya sayfası faz 1 başlangıcı.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7472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>
                    <a:alpha val="7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İLETİŞİM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474720" y="5715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welcome@inbound.com.tr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>
                    <a:alpha val="7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CANLI MOCKUP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5715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github.com/erdogan1ozdemir</a:t>
            </a:r>
            <a:endParaRPr lang="en-US" sz="1200" dirty="0"/>
          </a:p>
        </p:txBody>
      </p:sp>
      <p:pic>
        <p:nvPicPr>
          <p:cNvPr id="10" name="Image 1" descr="/Users/Erdo/Desktop/Claude Projects/Özdilek/Hub Page Project/deck/inbound-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309360"/>
            <a:ext cx="1371600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404 &amp; Özel Gün Kampanya Sayfa Tasarımı</dc:title>
  <dc:subject>PptxGenJS Presentation</dc:subject>
  <dc:creator>Inbound × Özdilek</dc:creator>
  <cp:lastModifiedBy>Inbound × Özdilek</cp:lastModifiedBy>
  <cp:revision>1</cp:revision>
  <dcterms:created xsi:type="dcterms:W3CDTF">2026-06-05T12:03:15Z</dcterms:created>
  <dcterms:modified xsi:type="dcterms:W3CDTF">2026-06-05T12:03:15Z</dcterms:modified>
</cp:coreProperties>
</file>