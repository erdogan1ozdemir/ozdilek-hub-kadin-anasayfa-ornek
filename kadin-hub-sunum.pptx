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Hub Page Project/deck/inbound-big-o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7772400" y="-3200400"/>
            <a:ext cx="8686800" cy="8686800"/>
          </a:xfrm>
          <a:prstGeom prst="rect">
            <a:avLst/>
          </a:prstGeom>
        </p:spPr>
      </p:pic>
      <p:pic>
        <p:nvPicPr>
          <p:cNvPr id="3" name="Image 1" descr="/Users/Erdo/Desktop/Claude Projects/Özdilek/Hub Page Project/deck/inbound-big-o-white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4114800" y="41148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8288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9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ÖZDİLEK × INBOUND · STRATEJİ SUNUMU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Kadın Hub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Sayfa Stratejisi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Rakip Analizi · Yapısal Öneri · Mockup · Roadmap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715000" y="5212080"/>
            <a:ext cx="731520" cy="45720"/>
          </a:xfrm>
          <a:prstGeom prst="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Users/Erdo/Desktop/Claude Projects/Özdilek/Hub Page Project/deck/inbound-wordma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6035040"/>
            <a:ext cx="1371600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0" y="6400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FFFFF">
                    <a:alpha val="7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MAYIS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72684" cy="6858000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50" kern="0" dirty="0">
                <a:solidFill>
                  <a:srgbClr val="FFFFFF">
                    <a:alpha val="8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SUNUM</a:t>
            </a:r>
            <a:endParaRPr lang="en-US" sz="5600" dirty="0"/>
          </a:p>
          <a:p>
            <a:pPr indent="0" marL="0">
              <a:buNone/>
            </a:pPr>
            <a:r>
              <a:rPr lang="en-US" sz="5600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AKIŞI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Hub sayfa stratejisi 5 bölümde değerlendirilmektedir. Süreç boyunca veri-temelli içgörüler ve rakip karşılaştırmaları temel alınmıştır.</a:t>
            </a:r>
            <a:endParaRPr lang="en-US" sz="1250" dirty="0"/>
          </a:p>
        </p:txBody>
      </p:sp>
      <p:pic>
        <p:nvPicPr>
          <p:cNvPr id="6" name="Image 0" descr="/Users/Erdo/Desktop/Claude Projects/Özdilek/Hub Page Project/deck/inbound-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35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1188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Mevcut Durum &amp; 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/kadin2 sayfası neden hub değil, mevcut SEO eksiklikleri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0" y="21488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2423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Rakip Analizi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0" y="2743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Boyner · Amazon TR · Koton · Marks &amp; Spencer karşılaştırması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3108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383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Önerilen Hub Yapısı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0" y="3703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 bölümlü hibrit yaklaşım, component breakdown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0" y="4069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0" y="4343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Yeni Componentler &amp; Loyalty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0" y="4663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Tarzın Bi' Başka, Split Showcase, Club/App promosyonu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43600" y="5029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32F">
                    <a:alpha val="6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0" y="5303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SEO Etkisi &amp; Roadmap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943600" y="5623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Beklenen kazançlar, implementasyon takvimi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Mevcut Durum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/kadin2 sayfasının hub potansiyeli ve eksiklikleri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Mevcut Durum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/kadin2 sayfa analizi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Hub </a:t>
            </a:r>
            <a:pPr indent="0" marL="0">
              <a:buNone/>
            </a:pPr>
            <a:r>
              <a:rPr lang="en-US" sz="3000" b="1" spc="-10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değil</a:t>
            </a:r>
            <a:pPr indent="0" marL="0">
              <a:buNone/>
            </a:pPr>
            <a:r>
              <a:rPr lang="en-US" sz="3000" b="1" spc="-10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, doğrudan PLP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www.ozdilekteyim.com/magaza/kadin2 sayfası bir kategori hub'ı yerine doğrudan ürün listeleme sayfası olarak çalışmaktadır. Kullanıcı keşif deneyimi ve SEO katmanları eksik durumdadır.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14.800 ürün · 411 sayfa · 54 facet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383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19472" y="1033272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914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H1: "Kadın"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Tek kelime, alıntı içinde. Long-tail SEO sinyali vermemektedir.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02752" y="868680"/>
            <a:ext cx="3383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1033272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08792" y="914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85632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Breadcrumb duplicate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85632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"Ana Sayfa &gt; Kadın &gt; Kadın" — son seviye tekrarlanmaktadır.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07792"/>
            <a:ext cx="3383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3072384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2953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93776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SEO içerik yok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9136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Açıklayıcı paragraf, alt başlık, ilgili kategori linki bulunmamaktadır.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2907792"/>
            <a:ext cx="3383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67344" y="3072384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344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08792" y="2953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485632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FAQ ve loyalty yok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85632" y="39136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FAQPage schema eksik. Üyelik / app yönlendirmesi bulunmamaktadır.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0292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Mevcut /kadin2 sayfasında </a:t>
            </a:r>
            <a:pPr indent="0" marL="0">
              <a:buNone/>
            </a:pPr>
            <a:r>
              <a:rPr lang="en-US" sz="11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schema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tanımlı (BreadcrumbList + ItemList + WebPage) — rakiplerin çoğunda hiç JSON-LD yoktur.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0" y="50292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H2 başlıklarının tamamı </a:t>
            </a:r>
            <a:pPr indent="0" marL="0">
              <a:buNone/>
            </a:pPr>
            <a:r>
              <a:rPr lang="en-US" sz="1150" b="1" dirty="0">
                <a:solidFill>
                  <a:srgbClr val="D32F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filtre etiketi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(Cinsiyet, Markalar, Bedenler) olup semantic SEO için elverişsizdir.</a:t>
            </a:r>
            <a:endParaRPr lang="en-US" sz="1150" dirty="0"/>
          </a:p>
        </p:txBody>
      </p:sp>
      <p:pic>
        <p:nvPicPr>
          <p:cNvPr id="32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 / 15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68680" y="6400800"/>
            <a:ext cx="2770632" cy="274320"/>
          </a:xfrm>
          <a:prstGeom prst="rect">
            <a:avLst>
              <a:gd name="adj" fmla="val 2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6400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Source: Özdilekteyim canlı tarama · 13.05.2026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Rakip Analizi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rakip kadın hub sayfasının yapısal ve SEO karşılaştırması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Rakip Analizi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Yapısal &amp; SEO karşılaştırması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Rakipte </a:t>
            </a:r>
            <a:pPr indent="0" marL="0">
              <a:buNone/>
            </a:pPr>
            <a:r>
              <a:rPr lang="en-US" sz="2600" b="1" spc="-5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hub yapısı</a:t>
            </a:r>
            <a:pPr indent="0" marL="0">
              <a:buNone/>
            </a:pPr>
            <a:r>
              <a:rPr lang="en-US" sz="26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ve SEO sinyalleri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Boyner, Amazon TR, Koton ve Marks &amp; Spencer kadın hub sayfalarının yapısal componentler, internal link katmanı ve schema markup açısından karşılaştırılması.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858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14400"/>
                <a:gridCol w="914400"/>
                <a:gridCol w="1325880"/>
                <a:gridCol w="91440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Özellik</a:t>
                      </a:r>
                      <a:endParaRPr lang="en-US" sz="95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Özdilek</a:t>
                      </a:r>
                      <a:endParaRPr lang="en-US" sz="95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Boyner</a:t>
                      </a:r>
                      <a:endParaRPr lang="en-US" sz="95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Amazon TR</a:t>
                      </a:r>
                      <a:endParaRPr lang="en-US" sz="95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Koton</a:t>
                      </a:r>
                      <a:endParaRPr lang="en-US" sz="95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M&amp;S TR</a:t>
                      </a:r>
                      <a:endParaRPr lang="en-US" sz="95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Hub var mı?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PLP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✓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PLP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PLP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✓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Long-tail H1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✓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JSON-LD Schema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3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SEO içerik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~500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~2K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0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Popüler aramalar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30+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Marka logo grid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kısmi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50+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3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FAQ + Schema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332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Trust badge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56404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footer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✓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✗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Bricolage Grotesque" pitchFamily="34" charset="0"/>
                          <a:ea typeface="Bricolage Grotesque" pitchFamily="34" charset="-122"/>
                          <a:cs typeface="Bricolage Grotesque" pitchFamily="34" charset="-120"/>
                        </a:rPr>
                        <a:t>✓</a:t>
                      </a:r>
                      <a:endParaRPr lang="en-US" sz="1000" dirty="0">
                        <a:latin typeface="Bricolage Grotesque" charset="0"/>
                        <a:ea typeface="Bricolage Grotesque" charset="0"/>
                        <a:cs typeface="Bricolage Grotesque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21945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Özdilek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schema markup'ta tek başına lider — rakiplerin hiçbirinde JSON-LD bulunmamaktadır.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31089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Koton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'un long-tail H1 ve multi-silo içerik pattern'ı SEO etkisi açısından örnek alınabilir.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40233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Boyner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'in popüler aramalar bloğu ve Amazon'un marka grid'i hub'da net SEO katmanı sağlamaktadır.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49377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FAQ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+ FAQPage schema hiçbir rakipte yoktur — Özdilek için pure moat fırsatıdır.</a:t>
            </a:r>
            <a:endParaRPr lang="en-US" sz="1100" dirty="0"/>
          </a:p>
        </p:txBody>
      </p:sp>
      <p:pic>
        <p:nvPicPr>
          <p:cNvPr id="10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 / 15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68680" y="6400800"/>
            <a:ext cx="3543300" cy="274320"/>
          </a:xfrm>
          <a:prstGeom prst="rect">
            <a:avLst>
              <a:gd name="adj" fmla="val 2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64008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Source: Playwright canlı tarama + Schema audit · 13.05.2026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Rakip Analizi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Best-of-breed component seti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Her rakipten </a:t>
            </a:r>
            <a:pPr indent="0" marL="0">
              <a:buNone/>
            </a:pPr>
            <a:r>
              <a:rPr lang="en-US" sz="2800" b="1" spc="-5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iyi parçayı</a:t>
            </a:r>
            <a:pPr indent="0" marL="0">
              <a:buNone/>
            </a:pPr>
            <a:r>
              <a:rPr lang="en-US" sz="28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alarak hibrit yapı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Önerilen Özdilek hub yapısı, her rakipten test edilmiş bir pattern'ı entegre etmektedir. Sonuç: rakiplerin tek başına sahip olmadığı dengeli bir hibrit deneyim.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450592"/>
            <a:ext cx="384048" cy="384048"/>
          </a:xfrm>
          <a:prstGeom prst="ellipse">
            <a:avLst/>
          </a:prstGeom>
          <a:solidFill>
            <a:srgbClr val="1C2E40"/>
          </a:solidFill>
          <a:ln w="12700">
            <a:solidFill>
              <a:srgbClr val="1C2E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23160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Boyner'den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Editorial stil koleksiyon kartları, popüler aramalar SEO link havuzu, "Tarzın Bi' Başka" 4 editorial kart pattern'ı.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2860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245059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47872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Amazon TR'den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7872" y="32918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50+ marka logo grid, "Fiyata göre alışveriş" kategori-segment tile'ları, görsel-yoğun discovery layout.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450592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38744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55664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Koton'dan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55664" y="32918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Long-tail H1, 2.000+ kelime multi-silo SEO content, marka-özel filtre taksonomisi.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80576" y="22860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45168" y="2450592"/>
            <a:ext cx="384048" cy="384048"/>
          </a:xfrm>
          <a:prstGeom prst="ellipse">
            <a:avLst/>
          </a:prstGeom>
          <a:solidFill>
            <a:srgbClr val="10332F"/>
          </a:solidFill>
          <a:ln w="12700">
            <a:solidFill>
              <a:srgbClr val="1033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46536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36345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M&amp;S'ten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63456" y="32918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Editorial büyük hero, alt-marka koleksiyon vitrini, minimal premium hissiyat, trust badge row.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960120"/>
          </a:xfrm>
          <a:prstGeom prst="rect">
            <a:avLst>
              <a:gd name="adj" fmla="val 9524"/>
            </a:avLst>
          </a:prstGeom>
          <a:solidFill>
            <a:srgbClr val="FFE3D8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349240"/>
            <a:ext cx="54864" cy="960120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 Özdilek'in kendi gücü: </a:t>
            </a:r>
            <a:pPr indent="0" marL="0">
              <a:buNone/>
            </a:pPr>
            <a:r>
              <a:rPr lang="en-US" sz="14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JSON-LD schema yoğunluğu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Mevcut 3 schema (BreadcrumbList + ItemList + WebPage) korunmakta; hub için CollectionPage + FAQPage eklenerek 5 schema'ya çıkarılması önerilmektedir.</a:t>
            </a:r>
            <a:endParaRPr lang="en-US" sz="1050" dirty="0"/>
          </a:p>
        </p:txBody>
      </p:sp>
      <p:pic>
        <p:nvPicPr>
          <p:cNvPr id="33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Önerilen Yapı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 bölümlü hibrit hub mimarisi, yukarıdan aşağıya akış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 bölümlü hub mimarisi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Hub sayfa </a:t>
            </a:r>
            <a:pPr indent="0" marL="0">
              <a:buNone/>
            </a:pPr>
            <a:r>
              <a:rPr lang="en-US" sz="30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akışı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Yukarıdan aşağıya kullanıcı akışı: keşif → ürün → kampanya → SEO katmanı. Her bölüm bir SEO ve UX hedefine hizmet etmektedir.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2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Üst</a:t>
            </a:r>
            <a:pPr indent="0" marL="0">
              <a:buNone/>
            </a:pPr>
            <a:r>
              <a:rPr lang="en-US" sz="12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hızlı keşif + kategori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Bölüm 1-7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2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Orta</a:t>
            </a:r>
            <a:pPr indent="0" marL="0">
              <a:buNone/>
            </a:pPr>
            <a:r>
              <a:rPr lang="en-US" sz="12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ürün vitrini + kampanya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Bölüm 8-13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2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Alt</a:t>
            </a:r>
            <a:pPr indent="0" marL="0">
              <a:buNone/>
            </a:pPr>
            <a:r>
              <a:rPr lang="en-US" sz="12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 SEO + güven katmanı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Bölüm 14-16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strip (kampanya bildirimi)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Header — logo, Mağaza/Market, sepet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Mega nav (Kadın aktif)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1792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Breadcrumb + long-tail H1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Hero slider (3 slide, auto)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Trend Aramalar (chip carousel)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07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8'li Kadın Kategorileri tile grid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962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08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Favori Markalar (20 marka logo)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09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Özdilek'in Farkını Keşfet — split showcase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9536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Avantajlı Ürünler (carousel)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0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Sezonun Enerjisini Keşfet (4 koleksiyon)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0" y="1792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Yeni Sezon, Yeni Stil (carousel)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13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Tarzın Bi' Başka! — 4 editorial kart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Kısa Süreli Fırsatlar! (carousel)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0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15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Loyalty — Mobil App + Özdilekteyim Club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0" y="2962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16  </a:t>
            </a:r>
            <a:pPr indent="0" marL="0">
              <a:buNone/>
            </a:pPr>
            <a:r>
              <a:rPr lang="en-US" sz="10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Popüler Aramalar + Trust + SEO + FAQ + Footer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5349240"/>
            <a:ext cx="7132320" cy="731520"/>
          </a:xfrm>
          <a:prstGeom prst="rect">
            <a:avLst>
              <a:gd name="adj" fmla="val 125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5440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Toplam: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80–150 unique internal link · 6 schema · 6 FAQ · 30+ long-tail keyword</a:t>
            </a:r>
            <a:endParaRPr lang="en-US" sz="1150" dirty="0"/>
          </a:p>
        </p:txBody>
      </p:sp>
      <p:pic>
        <p:nvPicPr>
          <p:cNvPr id="29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Yeni componentler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yeni </a:t>
            </a:r>
            <a:pPr indent="0" marL="0">
              <a:buNone/>
            </a:pPr>
            <a:r>
              <a:rPr lang="en-US" sz="32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component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Mevcut /kadin2'de olmayan, rakiplerin parça parça uyguladığı kazanım componentleri. Tümü bu hub'da konsolide edilmektedir.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Pattern referansları rakip incelemelerinden çıkarılmış, Özdilek tasarım diline (Montserrat, #ff6c0c) uyarlanmıştır.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19472" y="1033272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0920" y="914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Tarzın Bi' Başka!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4'lü editorial kart bloğu — kategori + fiyat ipucu (599 TL'den, %50 indirim vb.). Boyner pattern'ı baz alınarak Özdilek copy 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02752" y="86868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1033272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08792" y="914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85632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Split Showcase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85632" y="1874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 metin + sağ yatay carousel. "Özdilek'in Farkını Keşfet" hedefli sayfalar için. Derimod pattern'ı.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410712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3575304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3456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937760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Loyalty Block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441655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sütun: Mobil Uygulama (App Store / Google Play badge'leri) + Özdilekteyim Club (üyelik CTA). Mevcut sitede yok.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3410712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10332F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67344" y="3575304"/>
            <a:ext cx="384048" cy="384048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344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08792" y="3456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7B52">
                    <a:alpha val="1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485632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Popüler Aramalar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85632" y="441655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25–40 long-tail keyword link havuzu. Boyner pattern'ı; SEO katmanı için kritik internal linking.</a:t>
            </a:r>
            <a:endParaRPr lang="en-US" sz="1050" dirty="0"/>
          </a:p>
        </p:txBody>
      </p:sp>
      <p:pic>
        <p:nvPicPr>
          <p:cNvPr id="30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Önerilen Yapı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Mockup önizleme</a:t>
            </a:r>
            <a:endParaRPr lang="en-US" sz="1000" dirty="0"/>
          </a:p>
        </p:txBody>
      </p:sp>
      <p:pic>
        <p:nvPicPr>
          <p:cNvPr id="3" name="Image 0" descr="/Users/Erdo/Desktop/Claude Projects/Özdilek/Hub Page Project/deck/mockup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22960"/>
            <a:ext cx="4114800" cy="5440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83280" y="960120"/>
            <a:ext cx="1051560" cy="292608"/>
          </a:xfrm>
          <a:prstGeom prst="rect">
            <a:avLst>
              <a:gd name="adj" fmla="val 15625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383280" y="9601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LIVE MOCKUP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0" y="914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Mockup </a:t>
            </a:r>
            <a:pPr indent="0" marL="0">
              <a:buNone/>
            </a:pPr>
            <a:r>
              <a:rPr lang="en-US" sz="30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canlı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0" y="16916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Self-contained HTML, Özdilek tasarım diline uygun (Montserrat + #ff6c0c). 45 görsel base64 inline. Responsive (desktop + mobile).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2743200"/>
            <a:ext cx="6675120" cy="914400"/>
          </a:xfrm>
          <a:prstGeom prst="rect">
            <a:avLst>
              <a:gd name="adj" fmla="val 10000"/>
            </a:avLst>
          </a:prstGeom>
          <a:solidFill>
            <a:srgbClr val="FFE3D8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github.com/erdogan1ozdemir/ozdilek-hub-kadin-anasayfa-ornek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38404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Header / footer / tema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birebir Özdilek (gerçek logo SVG + Mağaza-Market switch).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0" y="43891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Etkileşim: hero slider, scroll-snap carousel, FAQ accordion, mobil drawer.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0" y="49377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5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Schema: </a:t>
            </a:r>
            <a:pPr indent="0" marL="0">
              <a:buNone/>
            </a:pPr>
            <a:r>
              <a:rPr lang="en-US" sz="115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CollectionPage + BreadcrumbList + FAQPage inline JSON-LD.</a:t>
            </a:r>
            <a:endParaRPr lang="en-US" sz="1150" dirty="0"/>
          </a:p>
        </p:txBody>
      </p:sp>
      <p:pic>
        <p:nvPicPr>
          <p:cNvPr id="14" name="Image 1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 / 15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68680" y="6400800"/>
            <a:ext cx="2057400" cy="274320"/>
          </a:xfrm>
          <a:prstGeom prst="rect">
            <a:avLst>
              <a:gd name="adj" fmla="val 2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64008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Self-contained · 3.8 MB · 16 bölüm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1371600"/>
            <a:ext cx="10972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0" b="1" spc="-1000" kern="0" dirty="0">
                <a:solidFill>
                  <a:srgbClr val="1A42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50000" dirty="0"/>
          </a:p>
        </p:txBody>
      </p:sp>
      <p:sp>
        <p:nvSpPr>
          <p:cNvPr id="3" name="Shape 1"/>
          <p:cNvSpPr/>
          <p:nvPr/>
        </p:nvSpPr>
        <p:spPr>
          <a:xfrm>
            <a:off x="5715000" y="237744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SEO Etkisi &amp; Roadmap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Beklenen kazanımlar ve uygulama takvimi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0" y="4617720"/>
            <a:ext cx="731520" cy="36576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SEO Etkisi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Beklenen kazanımlar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Beklenen </a:t>
            </a:r>
            <a:pPr indent="0" marL="0">
              <a:buNone/>
            </a:pPr>
            <a:r>
              <a:rPr lang="en-US" sz="30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SEO etkisi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Hub sayfası canlıya alındıktan sonra ilk 3-6 ay içinde gözlemlenmesi beklenen kazanımlar. Tahminler Koton ve Boyner benchmarks'larından türetilmiştir.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0" y="868680"/>
            <a:ext cx="2148840" cy="2103120"/>
          </a:xfrm>
          <a:prstGeom prst="rect">
            <a:avLst/>
          </a:prstGeom>
          <a:solidFill>
            <a:srgbClr val="10332F"/>
          </a:solidFill>
          <a:ln w="12700">
            <a:solidFill>
              <a:srgbClr val="1033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143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pPr algn="ctr"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×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212080" y="2331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FFFFFF">
                    <a:alpha val="9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JSON-LD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spc="150" kern="0" dirty="0">
                <a:solidFill>
                  <a:srgbClr val="FFFFFF">
                    <a:alpha val="9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(3 → 5)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60920" y="868680"/>
            <a:ext cx="2148840" cy="2103120"/>
          </a:xfrm>
          <a:prstGeom prst="rect">
            <a:avLst/>
          </a:prstGeom>
          <a:solidFill>
            <a:srgbClr val="10332F"/>
          </a:solidFill>
          <a:ln w="12700">
            <a:solidFill>
              <a:srgbClr val="1033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143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150</a:t>
            </a:r>
            <a:pPr algn="ctr"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543800" y="2331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FFFFFF">
                    <a:alpha val="9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Unique Internal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spc="150" kern="0" dirty="0">
                <a:solidFill>
                  <a:srgbClr val="FFFFFF">
                    <a:alpha val="9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Link / Hub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92640" y="868680"/>
            <a:ext cx="2148840" cy="2103120"/>
          </a:xfrm>
          <a:prstGeom prst="rect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1143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+40</a:t>
            </a:r>
            <a:pPr algn="ctr"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9875520" y="2331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FFFFFF">
                    <a:alpha val="9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Beklenen Organik</a:t>
            </a:r>
            <a:endParaRPr lang="en-US" sz="950" dirty="0"/>
          </a:p>
          <a:p>
            <a:pPr algn="ctr" indent="0" marL="0">
              <a:buNone/>
            </a:pPr>
            <a:r>
              <a:rPr lang="en-US" sz="950" spc="150" kern="0" dirty="0">
                <a:solidFill>
                  <a:srgbClr val="FFFFFF">
                    <a:alpha val="9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Trafik Artışı (6 ay)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Şu an eklenecek schema'lar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CollectionPage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— hub sayfası temel tipi, Google için rich result sinyali.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FAQPage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— 6 SSS, SERP'te accordion görünümü potansiyeli (rakiplerde yok).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b="1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BreadcrumbList genişletilmiş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— 2 → 3 seviye, duplicate düzeltilmiş.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Kazanım hipotezleri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"Kadın giyim" benzeri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primary keyword'lerde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sıralama iyileşmesi beklenmektedir.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30+ long-tail link ile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alt kategori PLP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'lerde indirect ranking boost.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➔  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FAQ schema rakipte olmadığı için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SERP feature</a:t>
            </a:r>
            <a:pPr indent="0" marL="0">
              <a:buNone/>
            </a:pPr>
            <a:r>
              <a:rPr lang="en-US" sz="1100" dirty="0">
                <a:solidFill>
                  <a:srgbClr val="10332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kazanımı olasıdır.</a:t>
            </a:r>
            <a:endParaRPr lang="en-US" sz="1100" dirty="0"/>
          </a:p>
        </p:txBody>
      </p:sp>
      <p:pic>
        <p:nvPicPr>
          <p:cNvPr id="22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13 / 15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8680" y="6400800"/>
            <a:ext cx="3127248" cy="274320"/>
          </a:xfrm>
          <a:prstGeom prst="rect">
            <a:avLst>
              <a:gd name="adj" fmla="val 26667"/>
            </a:avLst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64008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Source: Inbound benchmark · Koton + Boyner referansı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Roadmap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</a:rPr>
              <a:t>  |  </a:t>
            </a:r>
            <a:pPr indent="0" marL="0">
              <a:buNone/>
            </a:pPr>
            <a:r>
              <a:rPr lang="en-US" sz="1000" spc="40" kern="0" dirty="0">
                <a:solidFill>
                  <a:srgbClr val="FF7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Uygulama takvimi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Hub sayfası </a:t>
            </a:r>
            <a:pPr indent="0" marL="0">
              <a:buNone/>
            </a:pPr>
            <a:r>
              <a:rPr lang="en-US" sz="2800" b="1" spc="-50" kern="0" dirty="0">
                <a:solidFill>
                  <a:srgbClr val="FF7B5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uygulama takvimi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Önerilen 4 fazlı implementasyon. Toplam tahmini süre: 8-10 hafta. Faz 4 (diğer hub'lara genişleme) sonraki çeyrekte değerlendirilebilir.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71600" y="3154680"/>
            <a:ext cx="94183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697480"/>
            <a:ext cx="914400" cy="914400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  <a:effectLst>
            <a:outerShdw sx="100000" sy="100000" kx="0" ky="0" algn="bl" rotWithShape="0" blurRad="152400" dist="50800" dir="5400000">
              <a:srgbClr val="FF7B52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Tasarım &amp; Spec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hafta · Final Figma, design tokens, Spartacus component spec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914400" cy="914400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  <a:effectLst>
            <a:outerShdw sx="100000" sy="100000" kx="0" ky="0" algn="bl" rotWithShape="0" blurRad="152400" dist="50800" dir="5400000">
              <a:srgbClr val="FF7B5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Frontend Dev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4206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3-4 hafta · Spartacus / Angular bileşenler, CMS slot entegrasyonu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2697480"/>
            <a:ext cx="914400" cy="914400"/>
          </a:xfrm>
          <a:prstGeom prst="ellipse">
            <a:avLst/>
          </a:prstGeom>
          <a:solidFill>
            <a:srgbClr val="FF7B52"/>
          </a:solidFill>
          <a:ln w="12700">
            <a:solidFill>
              <a:srgbClr val="FF7B52"/>
            </a:solidFill>
            <a:prstDash val="solid"/>
          </a:ln>
          <a:effectLst>
            <a:outerShdw sx="100000" sy="100000" kx="0" ky="0" algn="bl" rotWithShape="0" blurRad="152400" dist="50800" dir="5400000">
              <a:srgbClr val="FF7B52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Content &amp; Schema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hafta · SEO copy, FAQ, asset üretimi, JSON-LD entegrasyonu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49840" y="2697480"/>
            <a:ext cx="914400" cy="914400"/>
          </a:xfrm>
          <a:prstGeom prst="ellipse">
            <a:avLst/>
          </a:prstGeom>
          <a:solidFill>
            <a:srgbClr val="10332F"/>
          </a:solidFill>
          <a:ln w="12700">
            <a:solidFill>
              <a:srgbClr val="10332F"/>
            </a:solidFill>
            <a:prstDash val="solid"/>
          </a:ln>
          <a:effectLst>
            <a:outerShdw sx="100000" sy="100000" kx="0" ky="0" algn="bl" rotWithShape="0" blurRad="152400" dist="50800" dir="5400000">
              <a:srgbClr val="10332F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498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3544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Launch &amp; Genişle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4206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1-2 hafta + sonra · Deploy, measure, Erkek/Çocuk hub'larına replikasyon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349240"/>
            <a:ext cx="11247120" cy="91440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458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Inbound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779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SEO spec · içerik · schema · UX rehberi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34840" y="5458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Özdilek Marka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5779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Görsel asset · marka onayı · CMS slot içeriği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83880" y="5458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Özdilek 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5779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Spartacus dev · deploy · QA</a:t>
            </a:r>
            <a:endParaRPr lang="en-US" sz="1050" dirty="0"/>
          </a:p>
        </p:txBody>
      </p:sp>
      <p:pic>
        <p:nvPicPr>
          <p:cNvPr id="29" name="Image 0" descr="/Users/Erdo/Desktop/Claude Projects/Özdilek/Hub Page Project/deck/inbound-o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10332F">
                    <a:alpha val="5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7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do/Desktop/Claude Projects/Özdilek/Hub Page Project/deck/inbound-big-o-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3200400" y="-1828800"/>
            <a:ext cx="8686800" cy="8686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1828800"/>
            <a:ext cx="731520" cy="45720"/>
          </a:xfrm>
          <a:prstGeom prst="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103120"/>
            <a:ext cx="11247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Teşekkürler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Sorularınız ve geri bildirimleriniz için hazırız.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Sonraki adım: tasarım onayı + faz 1 başlangıcı.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7472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İLETİŞİM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474720" y="5715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welcome@inbound.com.tr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>
                    <a:alpha val="75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MOCKUP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5715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github.com/erdogan1ozdemir</a:t>
            </a:r>
            <a:endParaRPr lang="en-US" sz="1200" dirty="0"/>
          </a:p>
        </p:txBody>
      </p:sp>
      <p:pic>
        <p:nvPicPr>
          <p:cNvPr id="10" name="Image 1" descr="/Users/Erdo/Desktop/Claude Projects/Özdilek/Hub Page Project/deck/inbound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309360"/>
            <a:ext cx="13716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Inbound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Kadın Hub Sayfa Stratejisi</dc:title>
  <dc:subject>PptxGenJS Presentation</dc:subject>
  <dc:creator>Inbound × Özdilek</dc:creator>
  <cp:lastModifiedBy>Inbound × Özdilek</cp:lastModifiedBy>
  <cp:revision>1</cp:revision>
  <dcterms:created xsi:type="dcterms:W3CDTF">2026-05-13T11:37:16Z</dcterms:created>
  <dcterms:modified xsi:type="dcterms:W3CDTF">2026-05-13T11:37:16Z</dcterms:modified>
</cp:coreProperties>
</file>